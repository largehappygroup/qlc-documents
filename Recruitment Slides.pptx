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4" r:id="rId3"/>
    <p:sldId id="265" r:id="rId4"/>
    <p:sldId id="263" r:id="rId5"/>
    <p:sldId id="262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FCC035-FACA-4508-B186-62CBDD0AEF7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F35447-71EC-48CC-9CEF-A0D47AC600CD}">
      <dgm:prSet phldrT="[Text]" phldr="0"/>
      <dgm:spPr/>
      <dgm:t>
        <a:bodyPr/>
        <a:lstStyle/>
        <a:p>
          <a:r>
            <a:rPr lang="en-US" dirty="0"/>
            <a:t>CS students submit code for PAs</a:t>
          </a:r>
        </a:p>
      </dgm:t>
    </dgm:pt>
    <dgm:pt modelId="{E9323E8C-8D0D-40D1-9706-15F29F331DDE}" type="parTrans" cxnId="{ACC09225-1C66-43C3-8BCE-7A36DA1B01B7}">
      <dgm:prSet/>
      <dgm:spPr/>
      <dgm:t>
        <a:bodyPr/>
        <a:lstStyle/>
        <a:p>
          <a:endParaRPr lang="en-US"/>
        </a:p>
      </dgm:t>
    </dgm:pt>
    <dgm:pt modelId="{E8529558-BFAC-40D2-A9B7-DC66F9B927C8}" type="sibTrans" cxnId="{ACC09225-1C66-43C3-8BCE-7A36DA1B01B7}">
      <dgm:prSet/>
      <dgm:spPr/>
      <dgm:t>
        <a:bodyPr/>
        <a:lstStyle/>
        <a:p>
          <a:endParaRPr lang="en-US"/>
        </a:p>
      </dgm:t>
    </dgm:pt>
    <dgm:pt modelId="{055A867D-17BE-4ED1-9DE1-B3D3E97BCC59}">
      <dgm:prSet phldrT="[Text]" phldr="0"/>
      <dgm:spPr/>
      <dgm:t>
        <a:bodyPr/>
        <a:lstStyle/>
        <a:p>
          <a:r>
            <a:rPr lang="en-US" dirty="0"/>
            <a:t>Create personal, test-like questions for students </a:t>
          </a:r>
        </a:p>
      </dgm:t>
    </dgm:pt>
    <dgm:pt modelId="{B8A3AA20-B5F5-4AE2-97BB-DD5FD7B22B5C}" type="parTrans" cxnId="{CC9D1E31-6D5F-489A-9F33-38C2B1EFFB0E}">
      <dgm:prSet/>
      <dgm:spPr/>
      <dgm:t>
        <a:bodyPr/>
        <a:lstStyle/>
        <a:p>
          <a:endParaRPr lang="en-US"/>
        </a:p>
      </dgm:t>
    </dgm:pt>
    <dgm:pt modelId="{FB450F15-30F9-444F-BEC0-0FC3F79947C5}" type="sibTrans" cxnId="{CC9D1E31-6D5F-489A-9F33-38C2B1EFFB0E}">
      <dgm:prSet/>
      <dgm:spPr/>
      <dgm:t>
        <a:bodyPr/>
        <a:lstStyle/>
        <a:p>
          <a:endParaRPr lang="en-US"/>
        </a:p>
      </dgm:t>
    </dgm:pt>
    <dgm:pt modelId="{77550C05-1B90-4EA7-B5A4-F7CB10F85244}">
      <dgm:prSet phldrT="[Text]" phldr="0"/>
      <dgm:spPr/>
      <dgm:t>
        <a:bodyPr/>
        <a:lstStyle/>
        <a:p>
          <a:r>
            <a:rPr lang="en-US" dirty="0"/>
            <a:t>Students answer the questions</a:t>
          </a:r>
        </a:p>
      </dgm:t>
    </dgm:pt>
    <dgm:pt modelId="{AD2DE635-B171-44F5-BA78-1E7E6589E138}" type="parTrans" cxnId="{85CC8EC4-71B0-454F-B4A3-B1E58C788FE3}">
      <dgm:prSet/>
      <dgm:spPr/>
      <dgm:t>
        <a:bodyPr/>
        <a:lstStyle/>
        <a:p>
          <a:endParaRPr lang="en-US"/>
        </a:p>
      </dgm:t>
    </dgm:pt>
    <dgm:pt modelId="{A7E5BD76-9197-4DDF-8910-9E4E6ECAB522}" type="sibTrans" cxnId="{85CC8EC4-71B0-454F-B4A3-B1E58C788FE3}">
      <dgm:prSet/>
      <dgm:spPr/>
      <dgm:t>
        <a:bodyPr/>
        <a:lstStyle/>
        <a:p>
          <a:endParaRPr lang="en-US"/>
        </a:p>
      </dgm:t>
    </dgm:pt>
    <dgm:pt modelId="{FD4DAEF7-3576-42A1-8833-B8595B0DCBE9}" type="pres">
      <dgm:prSet presAssocID="{5EFCC035-FACA-4508-B186-62CBDD0AEF74}" presName="Name0" presStyleCnt="0">
        <dgm:presLayoutVars>
          <dgm:dir/>
          <dgm:animLvl val="lvl"/>
          <dgm:resizeHandles val="exact"/>
        </dgm:presLayoutVars>
      </dgm:prSet>
      <dgm:spPr/>
    </dgm:pt>
    <dgm:pt modelId="{0A81C774-1460-46E7-AB78-4A48FE971666}" type="pres">
      <dgm:prSet presAssocID="{A9F35447-71EC-48CC-9CEF-A0D47AC600C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D97DEB0-6AC1-4DA6-8AB4-CE2E9E568E55}" type="pres">
      <dgm:prSet presAssocID="{E8529558-BFAC-40D2-A9B7-DC66F9B927C8}" presName="parTxOnlySpace" presStyleCnt="0"/>
      <dgm:spPr/>
    </dgm:pt>
    <dgm:pt modelId="{2A988085-EBC8-44CD-98AD-4BA2366EE575}" type="pres">
      <dgm:prSet presAssocID="{055A867D-17BE-4ED1-9DE1-B3D3E97BCC59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64EA47F-6827-4BBF-8EFD-16D30002D92A}" type="pres">
      <dgm:prSet presAssocID="{FB450F15-30F9-444F-BEC0-0FC3F79947C5}" presName="parTxOnlySpace" presStyleCnt="0"/>
      <dgm:spPr/>
    </dgm:pt>
    <dgm:pt modelId="{D1B33BB0-04B0-4A8F-BFB3-46EF7FEC7630}" type="pres">
      <dgm:prSet presAssocID="{77550C05-1B90-4EA7-B5A4-F7CB10F85244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CC09225-1C66-43C3-8BCE-7A36DA1B01B7}" srcId="{5EFCC035-FACA-4508-B186-62CBDD0AEF74}" destId="{A9F35447-71EC-48CC-9CEF-A0D47AC600CD}" srcOrd="0" destOrd="0" parTransId="{E9323E8C-8D0D-40D1-9706-15F29F331DDE}" sibTransId="{E8529558-BFAC-40D2-A9B7-DC66F9B927C8}"/>
    <dgm:cxn modelId="{CC9D1E31-6D5F-489A-9F33-38C2B1EFFB0E}" srcId="{5EFCC035-FACA-4508-B186-62CBDD0AEF74}" destId="{055A867D-17BE-4ED1-9DE1-B3D3E97BCC59}" srcOrd="1" destOrd="0" parTransId="{B8A3AA20-B5F5-4AE2-97BB-DD5FD7B22B5C}" sibTransId="{FB450F15-30F9-444F-BEC0-0FC3F79947C5}"/>
    <dgm:cxn modelId="{1D773A67-E844-42D6-9EB3-9EBE607280A0}" type="presOf" srcId="{055A867D-17BE-4ED1-9DE1-B3D3E97BCC59}" destId="{2A988085-EBC8-44CD-98AD-4BA2366EE575}" srcOrd="0" destOrd="0" presId="urn:microsoft.com/office/officeart/2005/8/layout/chevron1"/>
    <dgm:cxn modelId="{03E6F24F-838E-463F-84E1-CEA9E149AE35}" type="presOf" srcId="{77550C05-1B90-4EA7-B5A4-F7CB10F85244}" destId="{D1B33BB0-04B0-4A8F-BFB3-46EF7FEC7630}" srcOrd="0" destOrd="0" presId="urn:microsoft.com/office/officeart/2005/8/layout/chevron1"/>
    <dgm:cxn modelId="{FFBB2581-073D-462A-B867-F3D50F40148C}" type="presOf" srcId="{5EFCC035-FACA-4508-B186-62CBDD0AEF74}" destId="{FD4DAEF7-3576-42A1-8833-B8595B0DCBE9}" srcOrd="0" destOrd="0" presId="urn:microsoft.com/office/officeart/2005/8/layout/chevron1"/>
    <dgm:cxn modelId="{87D84B9F-CA57-4DB6-9369-F5AC8DFED41A}" type="presOf" srcId="{A9F35447-71EC-48CC-9CEF-A0D47AC600CD}" destId="{0A81C774-1460-46E7-AB78-4A48FE971666}" srcOrd="0" destOrd="0" presId="urn:microsoft.com/office/officeart/2005/8/layout/chevron1"/>
    <dgm:cxn modelId="{85CC8EC4-71B0-454F-B4A3-B1E58C788FE3}" srcId="{5EFCC035-FACA-4508-B186-62CBDD0AEF74}" destId="{77550C05-1B90-4EA7-B5A4-F7CB10F85244}" srcOrd="2" destOrd="0" parTransId="{AD2DE635-B171-44F5-BA78-1E7E6589E138}" sibTransId="{A7E5BD76-9197-4DDF-8910-9E4E6ECAB522}"/>
    <dgm:cxn modelId="{160D2E0D-A4CF-436D-96DC-B361F6FF33B0}" type="presParOf" srcId="{FD4DAEF7-3576-42A1-8833-B8595B0DCBE9}" destId="{0A81C774-1460-46E7-AB78-4A48FE971666}" srcOrd="0" destOrd="0" presId="urn:microsoft.com/office/officeart/2005/8/layout/chevron1"/>
    <dgm:cxn modelId="{993A0B41-3758-432E-8508-10388E2ED83F}" type="presParOf" srcId="{FD4DAEF7-3576-42A1-8833-B8595B0DCBE9}" destId="{AD97DEB0-6AC1-4DA6-8AB4-CE2E9E568E55}" srcOrd="1" destOrd="0" presId="urn:microsoft.com/office/officeart/2005/8/layout/chevron1"/>
    <dgm:cxn modelId="{3CF7A462-4913-4082-BFC2-944ED5096BA1}" type="presParOf" srcId="{FD4DAEF7-3576-42A1-8833-B8595B0DCBE9}" destId="{2A988085-EBC8-44CD-98AD-4BA2366EE575}" srcOrd="2" destOrd="0" presId="urn:microsoft.com/office/officeart/2005/8/layout/chevron1"/>
    <dgm:cxn modelId="{639D12C1-DA2A-4147-A7EA-179FF735182D}" type="presParOf" srcId="{FD4DAEF7-3576-42A1-8833-B8595B0DCBE9}" destId="{264EA47F-6827-4BBF-8EFD-16D30002D92A}" srcOrd="3" destOrd="0" presId="urn:microsoft.com/office/officeart/2005/8/layout/chevron1"/>
    <dgm:cxn modelId="{FF9F5EE3-001C-4D2D-9532-9AE6D14FB950}" type="presParOf" srcId="{FD4DAEF7-3576-42A1-8833-B8595B0DCBE9}" destId="{D1B33BB0-04B0-4A8F-BFB3-46EF7FEC763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1C774-1460-46E7-AB78-4A48FE971666}">
      <dsp:nvSpPr>
        <dsp:cNvPr id="0" name=""/>
        <dsp:cNvSpPr/>
      </dsp:nvSpPr>
      <dsp:spPr>
        <a:xfrm>
          <a:off x="2983" y="413945"/>
          <a:ext cx="3634686" cy="14538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CS students submit code for PAs</a:t>
          </a:r>
        </a:p>
      </dsp:txBody>
      <dsp:txXfrm>
        <a:off x="729920" y="413945"/>
        <a:ext cx="2180812" cy="1453874"/>
      </dsp:txXfrm>
    </dsp:sp>
    <dsp:sp modelId="{2A988085-EBC8-44CD-98AD-4BA2366EE575}">
      <dsp:nvSpPr>
        <dsp:cNvPr id="0" name=""/>
        <dsp:cNvSpPr/>
      </dsp:nvSpPr>
      <dsp:spPr>
        <a:xfrm>
          <a:off x="3274201" y="413945"/>
          <a:ext cx="3634686" cy="14538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Create personal, test-like questions for students </a:t>
          </a:r>
        </a:p>
      </dsp:txBody>
      <dsp:txXfrm>
        <a:off x="4001138" y="413945"/>
        <a:ext cx="2180812" cy="1453874"/>
      </dsp:txXfrm>
    </dsp:sp>
    <dsp:sp modelId="{D1B33BB0-04B0-4A8F-BFB3-46EF7FEC7630}">
      <dsp:nvSpPr>
        <dsp:cNvPr id="0" name=""/>
        <dsp:cNvSpPr/>
      </dsp:nvSpPr>
      <dsp:spPr>
        <a:xfrm>
          <a:off x="6545419" y="413945"/>
          <a:ext cx="3634686" cy="145387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Students answer the questions</a:t>
          </a:r>
        </a:p>
      </dsp:txBody>
      <dsp:txXfrm>
        <a:off x="7272356" y="413945"/>
        <a:ext cx="2180812" cy="1453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05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4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5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75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79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1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2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3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A52AB-4F6F-418F-8FFB-0A70A0A33C7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605F3-1C57-48AA-9496-DFDBBC61D3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47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helen.wu@vanderbilt.ed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elen.cumberland.isis.vanderbilt.edu/" TargetMode="External"/><Relationship Id="rId4" Type="http://schemas.openxmlformats.org/officeDocument/2006/relationships/hyperlink" Target="https://redcap.vumc.org/surveys/?s=XEFPCEMRC88947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DD9DA-459F-8E52-19B5-FADC372E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118" y="4017819"/>
            <a:ext cx="10023764" cy="127281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accent4"/>
                </a:solidFill>
              </a:rPr>
              <a:t>+ help me get rid of </a:t>
            </a:r>
            <a:r>
              <a:rPr lang="en-US" dirty="0" err="1">
                <a:solidFill>
                  <a:schemeClr val="accent4"/>
                </a:solidFill>
              </a:rPr>
              <a:t>Zybooks</a:t>
            </a:r>
            <a:r>
              <a:rPr lang="en-US" dirty="0">
                <a:solidFill>
                  <a:schemeClr val="accent4"/>
                </a:solidFill>
              </a:rPr>
              <a:t> for future students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BA133-2795-CCE3-7DF6-A16F75ADD0D7}"/>
              </a:ext>
            </a:extLst>
          </p:cNvPr>
          <p:cNvSpPr txBox="1"/>
          <p:nvPr/>
        </p:nvSpPr>
        <p:spPr>
          <a:xfrm>
            <a:off x="1752600" y="1317986"/>
            <a:ext cx="8686800" cy="25853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Extra Credit Opportunity: +0.5% on your final grade for CS1101</a:t>
            </a:r>
          </a:p>
        </p:txBody>
      </p:sp>
    </p:spTree>
    <p:extLst>
      <p:ext uri="{BB962C8B-B14F-4D97-AF65-F5344CB8AC3E}">
        <p14:creationId xmlns:p14="http://schemas.microsoft.com/office/powerpoint/2010/main" val="1471168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8DB1-E429-2778-BD8A-CB8470BE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3E070-AE30-E4DC-444C-961509E1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89" y="1118369"/>
            <a:ext cx="10679545" cy="1630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Questions on Learner’s Code (QLCs)</a:t>
            </a:r>
            <a:r>
              <a:rPr lang="en-US" dirty="0"/>
              <a:t>: reviewing strategy for CS students</a:t>
            </a:r>
          </a:p>
          <a:p>
            <a:pPr lvl="1"/>
            <a:r>
              <a:rPr lang="en-US" sz="2800" dirty="0">
                <a:solidFill>
                  <a:schemeClr val="accent4"/>
                </a:solidFill>
              </a:rPr>
              <a:t>Previous studies: CS students struggle to explain code they wrote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356A173-8397-B361-B1B9-8F400BC1F3A3}"/>
              </a:ext>
            </a:extLst>
          </p:cNvPr>
          <p:cNvSpPr txBox="1">
            <a:spLocks/>
          </p:cNvSpPr>
          <p:nvPr/>
        </p:nvSpPr>
        <p:spPr>
          <a:xfrm>
            <a:off x="1452418" y="5024353"/>
            <a:ext cx="9287163" cy="51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My study: use LLMs to generate QLCs from peer student code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401B3FD-576D-B4F0-5318-D65C7E81AA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076039"/>
              </p:ext>
            </p:extLst>
          </p:nvPr>
        </p:nvGraphicFramePr>
        <p:xfrm>
          <a:off x="1004454" y="2355273"/>
          <a:ext cx="10183090" cy="2281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280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E466-DCFC-D936-5AE6-B47D6265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C05B-DFD3-80CF-3438-79FDA901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are the incentives?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38A7E-AB72-D925-87A8-48DC2CCE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Extra Credit (+0.5 on your final grade!)</a:t>
            </a:r>
          </a:p>
          <a:p>
            <a:r>
              <a:rPr lang="en-US" b="1" u="sng" dirty="0"/>
              <a:t>Additional study resource for exams</a:t>
            </a:r>
          </a:p>
          <a:p>
            <a:r>
              <a:rPr lang="en-US" dirty="0"/>
              <a:t>Low time commitment</a:t>
            </a:r>
          </a:p>
          <a:p>
            <a:r>
              <a:rPr lang="en-US" dirty="0"/>
              <a:t>Participate in feedback for future app development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922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474CD-0016-FBA0-901D-37E3B598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EC9-14AB-209D-CCB1-79DABC29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What do you need to do for credit?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CEA7B0-D4CC-5023-2CDF-6C48FC7B6B95}"/>
              </a:ext>
            </a:extLst>
          </p:cNvPr>
          <p:cNvSpPr txBox="1">
            <a:spLocks/>
          </p:cNvSpPr>
          <p:nvPr/>
        </p:nvSpPr>
        <p:spPr>
          <a:xfrm>
            <a:off x="838200" y="3855026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985795-D75C-D658-7366-2490B86A811B}"/>
              </a:ext>
            </a:extLst>
          </p:cNvPr>
          <p:cNvSpPr txBox="1">
            <a:spLocks/>
          </p:cNvSpPr>
          <p:nvPr/>
        </p:nvSpPr>
        <p:spPr>
          <a:xfrm>
            <a:off x="838200" y="3929711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7CC0D-2AD6-924E-6988-29F796E3D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391658"/>
              </p:ext>
            </p:extLst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8445">
                  <a:extLst>
                    <a:ext uri="{9D8B030D-6E8A-4147-A177-3AD203B41FA5}">
                      <a16:colId xmlns:a16="http://schemas.microsoft.com/office/drawing/2014/main" val="1545916064"/>
                    </a:ext>
                  </a:extLst>
                </a:gridCol>
                <a:gridCol w="5284844">
                  <a:extLst>
                    <a:ext uri="{9D8B030D-6E8A-4147-A177-3AD203B41FA5}">
                      <a16:colId xmlns:a16="http://schemas.microsoft.com/office/drawing/2014/main" val="2835748365"/>
                    </a:ext>
                  </a:extLst>
                </a:gridCol>
                <a:gridCol w="2592311">
                  <a:extLst>
                    <a:ext uri="{9D8B030D-6E8A-4147-A177-3AD203B41FA5}">
                      <a16:colId xmlns:a16="http://schemas.microsoft.com/office/drawing/2014/main" val="1230921918"/>
                    </a:ext>
                  </a:extLst>
                </a:gridCol>
              </a:tblGrid>
              <a:tr h="392605">
                <a:tc>
                  <a:txBody>
                    <a:bodyPr/>
                    <a:lstStyle/>
                    <a:p>
                      <a:r>
                        <a:rPr lang="en-US" sz="2400" dirty="0"/>
                        <a:t>Required Tasks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Extra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901080"/>
                  </a:ext>
                </a:extLst>
              </a:tr>
              <a:tr h="39260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Submit your PAs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You do that already!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4"/>
                          </a:solidFill>
                        </a:rPr>
                        <a:t>+0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728315"/>
                  </a:ext>
                </a:extLst>
              </a:tr>
              <a:tr h="875895">
                <a:tc>
                  <a:txBody>
                    <a:bodyPr/>
                    <a:lstStyle/>
                    <a:p>
                      <a:r>
                        <a:rPr lang="en-US" sz="2400" dirty="0"/>
                        <a:t>Finish </a:t>
                      </a:r>
                      <a:r>
                        <a:rPr lang="en-US" sz="2400" b="1" u="sng" dirty="0"/>
                        <a:t>at least 90% </a:t>
                      </a:r>
                      <a:r>
                        <a:rPr lang="en-US" sz="2400" dirty="0"/>
                        <a:t>of assigned weekly exercises fully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Due before next PA deadline</a:t>
                      </a:r>
                    </a:p>
                    <a:p>
                      <a:r>
                        <a:rPr lang="en-US" sz="2400" dirty="0"/>
                        <a:t>MCQ about a student submission</a:t>
                      </a:r>
                    </a:p>
                    <a:p>
                      <a:r>
                        <a:rPr lang="en-US" sz="2400" dirty="0"/>
                        <a:t>Give quick ratings on question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+5-20 minutes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27666"/>
                  </a:ext>
                </a:extLst>
              </a:tr>
              <a:tr h="395794">
                <a:tc>
                  <a:txBody>
                    <a:bodyPr/>
                    <a:lstStyle/>
                    <a:p>
                      <a:r>
                        <a:rPr lang="en-US" sz="2400" dirty="0"/>
                        <a:t>Provide feedback on overall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Feedback form assigned occasionally</a:t>
                      </a:r>
                    </a:p>
                    <a:p>
                      <a:r>
                        <a:rPr lang="en-US" sz="2400" dirty="0"/>
                        <a:t>Due at the same time as corresponding exercises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+1 minute per 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0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AE9DE7-E32A-A8AA-4FA2-DB3982808529}"/>
              </a:ext>
            </a:extLst>
          </p:cNvPr>
          <p:cNvSpPr txBox="1"/>
          <p:nvPr/>
        </p:nvSpPr>
        <p:spPr>
          <a:xfrm>
            <a:off x="1213427" y="5495636"/>
            <a:ext cx="9765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Note: you must do all these tasks in full to receive extra credit. We will </a:t>
            </a:r>
            <a:r>
              <a:rPr lang="en-US" sz="2400" u="sng" dirty="0"/>
              <a:t>not</a:t>
            </a:r>
            <a:r>
              <a:rPr lang="en-US" sz="2400" dirty="0"/>
              <a:t> provide partial credit.</a:t>
            </a:r>
          </a:p>
        </p:txBody>
      </p:sp>
    </p:spTree>
    <p:extLst>
      <p:ext uri="{BB962C8B-B14F-4D97-AF65-F5344CB8AC3E}">
        <p14:creationId xmlns:p14="http://schemas.microsoft.com/office/powerpoint/2010/main" val="833156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C4B2-9959-06EB-7264-1FAC822E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Q: Can you participate?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4086-9690-6F75-AF36-945877A25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3200" dirty="0"/>
              <a:t>Eligibility: </a:t>
            </a:r>
            <a:r>
              <a:rPr lang="en-US" sz="3200" u="sng" dirty="0"/>
              <a:t>at least 18 years old</a:t>
            </a:r>
            <a:r>
              <a:rPr lang="en-US" sz="3200" dirty="0"/>
              <a:t> and </a:t>
            </a:r>
            <a:r>
              <a:rPr lang="en-US" sz="3200" dirty="0">
                <a:solidFill>
                  <a:schemeClr val="accent4"/>
                </a:solidFill>
              </a:rPr>
              <a:t>enrolled in CS 1101 Spring 2026</a:t>
            </a:r>
          </a:p>
          <a:p>
            <a:pPr lvl="1"/>
            <a:r>
              <a:rPr lang="en-US" sz="2800" dirty="0">
                <a:solidFill>
                  <a:schemeClr val="accent4"/>
                </a:solidFill>
              </a:rPr>
              <a:t>If you are not eligible, you can still complete the tasks for the extra credit; for research purposes, the data will be grouped separately.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AA5C9D-40A0-BC38-1E80-84C46F9A2C67}"/>
              </a:ext>
            </a:extLst>
          </p:cNvPr>
          <p:cNvSpPr txBox="1">
            <a:spLocks/>
          </p:cNvSpPr>
          <p:nvPr/>
        </p:nvSpPr>
        <p:spPr>
          <a:xfrm>
            <a:off x="838200" y="3855026"/>
            <a:ext cx="10515600" cy="1176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57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1A462-5E28-43C2-0693-E2374C470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Quick Demo</a:t>
            </a:r>
          </a:p>
        </p:txBody>
      </p:sp>
    </p:spTree>
    <p:extLst>
      <p:ext uri="{BB962C8B-B14F-4D97-AF65-F5344CB8AC3E}">
        <p14:creationId xmlns:p14="http://schemas.microsoft.com/office/powerpoint/2010/main" val="255441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E3E8-5DF2-48A3-D4B7-C5B915181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5BD0-CC31-6561-F1E6-836D93764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657" y="3922798"/>
            <a:ext cx="7529889" cy="1325563"/>
          </a:xfrm>
        </p:spPr>
        <p:txBody>
          <a:bodyPr/>
          <a:lstStyle/>
          <a:p>
            <a:r>
              <a:rPr lang="en-US" dirty="0"/>
              <a:t>Questions?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963D-1339-11B4-A34D-13EBD41C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656" y="4883868"/>
            <a:ext cx="11136447" cy="1325564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Email: </a:t>
            </a:r>
            <a:r>
              <a:rPr lang="en-US" sz="3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helen.wu@vanderbilt.edu</a:t>
            </a:r>
            <a:endParaRPr lang="en-US" sz="32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3200" b="1" dirty="0"/>
              <a:t>OH: </a:t>
            </a:r>
            <a:r>
              <a:rPr lang="en-US" sz="3200" dirty="0"/>
              <a:t>10:00 am – 12:00 pm, Friday and Saturdays in FGH 314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DE324-A987-2A5B-EE3E-F40146305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537" y="2500106"/>
            <a:ext cx="2925804" cy="2925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07F9E-DE43-EC8F-955B-0D857FE71F72}"/>
              </a:ext>
            </a:extLst>
          </p:cNvPr>
          <p:cNvSpPr txBox="1"/>
          <p:nvPr/>
        </p:nvSpPr>
        <p:spPr>
          <a:xfrm>
            <a:off x="298659" y="1392488"/>
            <a:ext cx="11594683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2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https://redcap.vumc.org/surveys/?s=XEFPCEMRC88947AR</a:t>
            </a:r>
            <a:endParaRPr lang="en-US" sz="3200" b="1" dirty="0"/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r>
              <a:rPr lang="en-US" sz="3200" b="1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https://helen.cumberland.isis.vanderbilt.edu/</a:t>
            </a:r>
            <a:r>
              <a:rPr lang="en-US" sz="32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Signing up is due </a:t>
            </a:r>
            <a:r>
              <a:rPr lang="en-US" sz="3200" b="1" u="sng" dirty="0">
                <a:solidFill>
                  <a:schemeClr val="accent1"/>
                </a:solidFill>
              </a:rPr>
              <a:t>March 2 @ 11:59pm!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179F08-1535-6855-5A4C-C7BD40A7A717}"/>
              </a:ext>
            </a:extLst>
          </p:cNvPr>
          <p:cNvSpPr txBox="1">
            <a:spLocks/>
          </p:cNvSpPr>
          <p:nvPr/>
        </p:nvSpPr>
        <p:spPr>
          <a:xfrm>
            <a:off x="298657" y="502670"/>
            <a:ext cx="7529889" cy="889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 participate:</a:t>
            </a:r>
          </a:p>
        </p:txBody>
      </p:sp>
    </p:spTree>
    <p:extLst>
      <p:ext uri="{BB962C8B-B14F-4D97-AF65-F5344CB8AC3E}">
        <p14:creationId xmlns:p14="http://schemas.microsoft.com/office/powerpoint/2010/main" val="221372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1639</TotalTime>
  <Words>320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Q: What are the incentives?</vt:lpstr>
      <vt:lpstr>Q: What do you need to do for credit? </vt:lpstr>
      <vt:lpstr>Q: Can you participate?</vt:lpstr>
      <vt:lpstr>PowerPoint Presentation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Wu, Helen</dc:creator>
  <cp:lastModifiedBy>Wu, Helen</cp:lastModifiedBy>
  <cp:revision>16</cp:revision>
  <dcterms:created xsi:type="dcterms:W3CDTF">2026-01-12T16:12:02Z</dcterms:created>
  <dcterms:modified xsi:type="dcterms:W3CDTF">2026-02-24T19:52:47Z</dcterms:modified>
</cp:coreProperties>
</file>