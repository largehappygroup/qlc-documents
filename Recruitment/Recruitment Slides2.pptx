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5_57B03F6F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modernComment_109_967F4349.xml" ContentType="application/vnd.ms-powerpoint.comments+xml"/>
  <Override PartName="/ppt/comments/modernComment_107_31A8F5B1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6" r:id="rId3"/>
    <p:sldId id="264" r:id="rId4"/>
    <p:sldId id="265" r:id="rId5"/>
    <p:sldId id="262" r:id="rId6"/>
    <p:sldId id="267" r:id="rId7"/>
    <p:sldId id="268" r:id="rId8"/>
    <p:sldId id="269" r:id="rId9"/>
    <p:sldId id="263" r:id="rId10"/>
    <p:sldId id="25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6AAD05-E397-700E-DB71-D53CBE44A6D9}" name="Bai, Rui (Gina)" initials="RB" userId="S::rui.bai@vanderbilt.edu::68e56eff-c03a-4fe4-871d-dbec351957a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18" autoAdjust="0"/>
    <p:restoredTop sz="94713"/>
  </p:normalViewPr>
  <p:slideViewPr>
    <p:cSldViewPr snapToGrid="0">
      <p:cViewPr varScale="1">
        <p:scale>
          <a:sx n="70" d="100"/>
          <a:sy n="70" d="100"/>
        </p:scale>
        <p:origin x="3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modernComment_105_57B03F6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0212910-AEFD-1744-9B4C-335A79C3EE4E}" authorId="{956AAD05-E397-700E-DB71-D53CBE44A6D9}" status="resolved" created="2026-02-24T19:57:43.399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471168367" sldId="261"/>
      <ac:spMk id="3" creationId="{35EDD9DA-459F-8E52-19B5-FADC372E2994}"/>
      <ac:txMk cp="72">
        <ac:context len="73" hash="1154257225"/>
      </ac:txMk>
    </ac:txMkLst>
    <p188:pos x="8530937" y="942108"/>
    <p188:txBody>
      <a:bodyPr/>
      <a:lstStyle/>
      <a:p>
        <a:r>
          <a:rPr lang="en-US"/>
          <a:t>Probably rephrase or replace it so it’s more beneficial for them, e.g., improving code reading skills and enhancing code comprehension.</a:t>
        </a:r>
      </a:p>
    </p188:txBody>
  </p188:cm>
  <p188:cm id="{2FD385DF-EA67-7244-B319-4E901841BBB5}" authorId="{956AAD05-E397-700E-DB71-D53CBE44A6D9}" status="resolved" created="2026-02-24T19:58:20.223" complete="100000">
    <pc:sldMkLst xmlns:pc="http://schemas.microsoft.com/office/powerpoint/2013/main/command">
      <pc:docMk/>
      <pc:sldMk cId="1471168367" sldId="261"/>
    </pc:sldMkLst>
    <p188:txBody>
      <a:bodyPr/>
      <a:lstStyle/>
      <a:p>
        <a:r>
          <a:rPr lang="en-US"/>
          <a:t>Also add a slide to introduce yourself, year/status in the program, CS1101 TA, your vandy email, etc.</a:t>
        </a:r>
      </a:p>
    </p188:txBody>
  </p188:cm>
</p188:cmLst>
</file>

<file path=ppt/comments/modernComment_107_31A8F5B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9BA88A8-2046-194E-A6FD-57D47255BFCD}" authorId="{956AAD05-E397-700E-DB71-D53CBE44A6D9}" created="2026-02-24T20:06:44.55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33156529" sldId="263"/>
      <ac:graphicFrameMk id="9" creationId="{3A37CC0D-2AD6-924E-6988-29F796E3D9D2}"/>
      <ac:tblMk/>
      <ac:tcMk rowId="34580066" colId="1545916064"/>
      <ac:txMk cp="0" len="38">
        <ac:context len="39" hash="676998629"/>
      </ac:txMk>
    </ac:txMkLst>
    <p188:pos x="2376055" y="2649393"/>
    <p188:txBody>
      <a:bodyPr/>
      <a:lstStyle/>
      <a:p>
        <a:r>
          <a:rPr lang="en-US"/>
          <a:t>Probably add two slides, one for each, along with a screenshot of the sample view. Use this slide as the summary slide.</a:t>
        </a:r>
      </a:p>
    </p188:txBody>
  </p188:cm>
</p188:cmLst>
</file>

<file path=ppt/comments/modernComment_109_967F434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A0BC95D-B865-2640-BA3E-39A9522CF65C}" authorId="{956AAD05-E397-700E-DB71-D53CBE44A6D9}" status="resolved" created="2026-02-24T20:00:26.199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524922697" sldId="265"/>
      <ac:spMk id="4" creationId="{D6938A7E-AB72-D925-87A8-48DC2CCE03B0}"/>
      <ac:txMk cp="77" len="19">
        <ac:context len="150" hash="3307348651"/>
      </ac:txMk>
    </ac:txMkLst>
    <p188:pos x="3761509" y="1430193"/>
    <p188:txBody>
      <a:bodyPr/>
      <a:lstStyle/>
      <a:p>
        <a:r>
          <a:rPr lang="en-US"/>
          <a:t>As a summary page, add the estimated time, weekly or biweekly, etc.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FCC035-FACA-4508-B186-62CBDD0AEF74}" type="doc">
      <dgm:prSet loTypeId="urn:microsoft.com/office/officeart/2005/8/layout/chevron1" loCatId="process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A9F35447-71EC-48CC-9CEF-A0D47AC600CD}">
      <dgm:prSet phldrT="[Text]" phldr="0" custT="1"/>
      <dgm:spPr/>
      <dgm:t>
        <a:bodyPr/>
        <a:lstStyle/>
        <a:p>
          <a:r>
            <a:rPr lang="en-US" sz="2400" dirty="0"/>
            <a:t>CS students submit code for PAs</a:t>
          </a:r>
        </a:p>
      </dgm:t>
    </dgm:pt>
    <dgm:pt modelId="{E9323E8C-8D0D-40D1-9706-15F29F331DDE}" type="parTrans" cxnId="{ACC09225-1C66-43C3-8BCE-7A36DA1B01B7}">
      <dgm:prSet/>
      <dgm:spPr/>
      <dgm:t>
        <a:bodyPr/>
        <a:lstStyle/>
        <a:p>
          <a:endParaRPr lang="en-US"/>
        </a:p>
      </dgm:t>
    </dgm:pt>
    <dgm:pt modelId="{E8529558-BFAC-40D2-A9B7-DC66F9B927C8}" type="sibTrans" cxnId="{ACC09225-1C66-43C3-8BCE-7A36DA1B01B7}">
      <dgm:prSet/>
      <dgm:spPr/>
      <dgm:t>
        <a:bodyPr/>
        <a:lstStyle/>
        <a:p>
          <a:endParaRPr lang="en-US"/>
        </a:p>
      </dgm:t>
    </dgm:pt>
    <dgm:pt modelId="{055A867D-17BE-4ED1-9DE1-B3D3E97BCC59}">
      <dgm:prSet phldrT="[Text]" phldr="0" custT="1"/>
      <dgm:spPr/>
      <dgm:t>
        <a:bodyPr/>
        <a:lstStyle/>
        <a:p>
          <a:r>
            <a:rPr lang="en-US" sz="2000" dirty="0"/>
            <a:t>Create test-like questions from code submission</a:t>
          </a:r>
        </a:p>
      </dgm:t>
    </dgm:pt>
    <dgm:pt modelId="{B8A3AA20-B5F5-4AE2-97BB-DD5FD7B22B5C}" type="parTrans" cxnId="{CC9D1E31-6D5F-489A-9F33-38C2B1EFFB0E}">
      <dgm:prSet/>
      <dgm:spPr/>
      <dgm:t>
        <a:bodyPr/>
        <a:lstStyle/>
        <a:p>
          <a:endParaRPr lang="en-US"/>
        </a:p>
      </dgm:t>
    </dgm:pt>
    <dgm:pt modelId="{FB450F15-30F9-444F-BEC0-0FC3F79947C5}" type="sibTrans" cxnId="{CC9D1E31-6D5F-489A-9F33-38C2B1EFFB0E}">
      <dgm:prSet/>
      <dgm:spPr/>
      <dgm:t>
        <a:bodyPr/>
        <a:lstStyle/>
        <a:p>
          <a:endParaRPr lang="en-US"/>
        </a:p>
      </dgm:t>
    </dgm:pt>
    <dgm:pt modelId="{77550C05-1B90-4EA7-B5A4-F7CB10F85244}">
      <dgm:prSet phldrT="[Text]" phldr="0" custT="1"/>
      <dgm:spPr/>
      <dgm:t>
        <a:bodyPr/>
        <a:lstStyle/>
        <a:p>
          <a:r>
            <a:rPr lang="en-US" sz="2400" dirty="0"/>
            <a:t>Students answer the questions</a:t>
          </a:r>
        </a:p>
      </dgm:t>
    </dgm:pt>
    <dgm:pt modelId="{AD2DE635-B171-44F5-BA78-1E7E6589E138}" type="parTrans" cxnId="{85CC8EC4-71B0-454F-B4A3-B1E58C788FE3}">
      <dgm:prSet/>
      <dgm:spPr/>
      <dgm:t>
        <a:bodyPr/>
        <a:lstStyle/>
        <a:p>
          <a:endParaRPr lang="en-US"/>
        </a:p>
      </dgm:t>
    </dgm:pt>
    <dgm:pt modelId="{A7E5BD76-9197-4DDF-8910-9E4E6ECAB522}" type="sibTrans" cxnId="{85CC8EC4-71B0-454F-B4A3-B1E58C788FE3}">
      <dgm:prSet/>
      <dgm:spPr/>
      <dgm:t>
        <a:bodyPr/>
        <a:lstStyle/>
        <a:p>
          <a:endParaRPr lang="en-US"/>
        </a:p>
      </dgm:t>
    </dgm:pt>
    <dgm:pt modelId="{FD4DAEF7-3576-42A1-8833-B8595B0DCBE9}" type="pres">
      <dgm:prSet presAssocID="{5EFCC035-FACA-4508-B186-62CBDD0AEF74}" presName="Name0" presStyleCnt="0">
        <dgm:presLayoutVars>
          <dgm:dir/>
          <dgm:animLvl val="lvl"/>
          <dgm:resizeHandles val="exact"/>
        </dgm:presLayoutVars>
      </dgm:prSet>
      <dgm:spPr/>
    </dgm:pt>
    <dgm:pt modelId="{0A81C774-1460-46E7-AB78-4A48FE971666}" type="pres">
      <dgm:prSet presAssocID="{A9F35447-71EC-48CC-9CEF-A0D47AC600C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AD97DEB0-6AC1-4DA6-8AB4-CE2E9E568E55}" type="pres">
      <dgm:prSet presAssocID="{E8529558-BFAC-40D2-A9B7-DC66F9B927C8}" presName="parTxOnlySpace" presStyleCnt="0"/>
      <dgm:spPr/>
    </dgm:pt>
    <dgm:pt modelId="{2A988085-EBC8-44CD-98AD-4BA2366EE575}" type="pres">
      <dgm:prSet presAssocID="{055A867D-17BE-4ED1-9DE1-B3D3E97BCC5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264EA47F-6827-4BBF-8EFD-16D30002D92A}" type="pres">
      <dgm:prSet presAssocID="{FB450F15-30F9-444F-BEC0-0FC3F79947C5}" presName="parTxOnlySpace" presStyleCnt="0"/>
      <dgm:spPr/>
    </dgm:pt>
    <dgm:pt modelId="{D1B33BB0-04B0-4A8F-BFB3-46EF7FEC7630}" type="pres">
      <dgm:prSet presAssocID="{77550C05-1B90-4EA7-B5A4-F7CB10F85244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ACC09225-1C66-43C3-8BCE-7A36DA1B01B7}" srcId="{5EFCC035-FACA-4508-B186-62CBDD0AEF74}" destId="{A9F35447-71EC-48CC-9CEF-A0D47AC600CD}" srcOrd="0" destOrd="0" parTransId="{E9323E8C-8D0D-40D1-9706-15F29F331DDE}" sibTransId="{E8529558-BFAC-40D2-A9B7-DC66F9B927C8}"/>
    <dgm:cxn modelId="{CC9D1E31-6D5F-489A-9F33-38C2B1EFFB0E}" srcId="{5EFCC035-FACA-4508-B186-62CBDD0AEF74}" destId="{055A867D-17BE-4ED1-9DE1-B3D3E97BCC59}" srcOrd="1" destOrd="0" parTransId="{B8A3AA20-B5F5-4AE2-97BB-DD5FD7B22B5C}" sibTransId="{FB450F15-30F9-444F-BEC0-0FC3F79947C5}"/>
    <dgm:cxn modelId="{1D773A67-E844-42D6-9EB3-9EBE607280A0}" type="presOf" srcId="{055A867D-17BE-4ED1-9DE1-B3D3E97BCC59}" destId="{2A988085-EBC8-44CD-98AD-4BA2366EE575}" srcOrd="0" destOrd="0" presId="urn:microsoft.com/office/officeart/2005/8/layout/chevron1"/>
    <dgm:cxn modelId="{03E6F24F-838E-463F-84E1-CEA9E149AE35}" type="presOf" srcId="{77550C05-1B90-4EA7-B5A4-F7CB10F85244}" destId="{D1B33BB0-04B0-4A8F-BFB3-46EF7FEC7630}" srcOrd="0" destOrd="0" presId="urn:microsoft.com/office/officeart/2005/8/layout/chevron1"/>
    <dgm:cxn modelId="{FFBB2581-073D-462A-B867-F3D50F40148C}" type="presOf" srcId="{5EFCC035-FACA-4508-B186-62CBDD0AEF74}" destId="{FD4DAEF7-3576-42A1-8833-B8595B0DCBE9}" srcOrd="0" destOrd="0" presId="urn:microsoft.com/office/officeart/2005/8/layout/chevron1"/>
    <dgm:cxn modelId="{87D84B9F-CA57-4DB6-9369-F5AC8DFED41A}" type="presOf" srcId="{A9F35447-71EC-48CC-9CEF-A0D47AC600CD}" destId="{0A81C774-1460-46E7-AB78-4A48FE971666}" srcOrd="0" destOrd="0" presId="urn:microsoft.com/office/officeart/2005/8/layout/chevron1"/>
    <dgm:cxn modelId="{85CC8EC4-71B0-454F-B4A3-B1E58C788FE3}" srcId="{5EFCC035-FACA-4508-B186-62CBDD0AEF74}" destId="{77550C05-1B90-4EA7-B5A4-F7CB10F85244}" srcOrd="2" destOrd="0" parTransId="{AD2DE635-B171-44F5-BA78-1E7E6589E138}" sibTransId="{A7E5BD76-9197-4DDF-8910-9E4E6ECAB522}"/>
    <dgm:cxn modelId="{160D2E0D-A4CF-436D-96DC-B361F6FF33B0}" type="presParOf" srcId="{FD4DAEF7-3576-42A1-8833-B8595B0DCBE9}" destId="{0A81C774-1460-46E7-AB78-4A48FE971666}" srcOrd="0" destOrd="0" presId="urn:microsoft.com/office/officeart/2005/8/layout/chevron1"/>
    <dgm:cxn modelId="{993A0B41-3758-432E-8508-10388E2ED83F}" type="presParOf" srcId="{FD4DAEF7-3576-42A1-8833-B8595B0DCBE9}" destId="{AD97DEB0-6AC1-4DA6-8AB4-CE2E9E568E55}" srcOrd="1" destOrd="0" presId="urn:microsoft.com/office/officeart/2005/8/layout/chevron1"/>
    <dgm:cxn modelId="{3CF7A462-4913-4082-BFC2-944ED5096BA1}" type="presParOf" srcId="{FD4DAEF7-3576-42A1-8833-B8595B0DCBE9}" destId="{2A988085-EBC8-44CD-98AD-4BA2366EE575}" srcOrd="2" destOrd="0" presId="urn:microsoft.com/office/officeart/2005/8/layout/chevron1"/>
    <dgm:cxn modelId="{639D12C1-DA2A-4147-A7EA-179FF735182D}" type="presParOf" srcId="{FD4DAEF7-3576-42A1-8833-B8595B0DCBE9}" destId="{264EA47F-6827-4BBF-8EFD-16D30002D92A}" srcOrd="3" destOrd="0" presId="urn:microsoft.com/office/officeart/2005/8/layout/chevron1"/>
    <dgm:cxn modelId="{FF9F5EE3-001C-4D2D-9532-9AE6D14FB950}" type="presParOf" srcId="{FD4DAEF7-3576-42A1-8833-B8595B0DCBE9}" destId="{D1B33BB0-04B0-4A8F-BFB3-46EF7FEC7630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81C774-1460-46E7-AB78-4A48FE971666}">
      <dsp:nvSpPr>
        <dsp:cNvPr id="0" name=""/>
        <dsp:cNvSpPr/>
      </dsp:nvSpPr>
      <dsp:spPr>
        <a:xfrm>
          <a:off x="3268" y="0"/>
          <a:ext cx="3982537" cy="1049789"/>
        </a:xfrm>
        <a:prstGeom prst="chevron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CS students submit code for PAs</a:t>
          </a:r>
        </a:p>
      </dsp:txBody>
      <dsp:txXfrm>
        <a:off x="528163" y="0"/>
        <a:ext cx="2932748" cy="1049789"/>
      </dsp:txXfrm>
    </dsp:sp>
    <dsp:sp modelId="{2A988085-EBC8-44CD-98AD-4BA2366EE575}">
      <dsp:nvSpPr>
        <dsp:cNvPr id="0" name=""/>
        <dsp:cNvSpPr/>
      </dsp:nvSpPr>
      <dsp:spPr>
        <a:xfrm>
          <a:off x="3587552" y="0"/>
          <a:ext cx="3982537" cy="1049789"/>
        </a:xfrm>
        <a:prstGeom prst="chevron">
          <a:avLst/>
        </a:prstGeom>
        <a:solidFill>
          <a:schemeClr val="accent1">
            <a:shade val="80000"/>
            <a:hueOff val="131939"/>
            <a:satOff val="-5896"/>
            <a:lumOff val="136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Create test-like questions from code submission</a:t>
          </a:r>
        </a:p>
      </dsp:txBody>
      <dsp:txXfrm>
        <a:off x="4112447" y="0"/>
        <a:ext cx="2932748" cy="1049789"/>
      </dsp:txXfrm>
    </dsp:sp>
    <dsp:sp modelId="{D1B33BB0-04B0-4A8F-BFB3-46EF7FEC7630}">
      <dsp:nvSpPr>
        <dsp:cNvPr id="0" name=""/>
        <dsp:cNvSpPr/>
      </dsp:nvSpPr>
      <dsp:spPr>
        <a:xfrm>
          <a:off x="7171836" y="0"/>
          <a:ext cx="3982537" cy="1049789"/>
        </a:xfrm>
        <a:prstGeom prst="chevron">
          <a:avLst/>
        </a:prstGeom>
        <a:solidFill>
          <a:schemeClr val="accent1">
            <a:shade val="80000"/>
            <a:hueOff val="263879"/>
            <a:satOff val="-11792"/>
            <a:lumOff val="2731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Students answer the questions</a:t>
          </a:r>
        </a:p>
      </dsp:txBody>
      <dsp:txXfrm>
        <a:off x="7696731" y="0"/>
        <a:ext cx="2932748" cy="10497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52AB-4F6F-418F-8FFB-0A70A0A33C7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05F3-1C57-48AA-9496-DFDBBC61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305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52AB-4F6F-418F-8FFB-0A70A0A33C7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05F3-1C57-48AA-9496-DFDBBC61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032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52AB-4F6F-418F-8FFB-0A70A0A33C7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05F3-1C57-48AA-9496-DFDBBC61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240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52AB-4F6F-418F-8FFB-0A70A0A33C7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05F3-1C57-48AA-9496-DFDBBC61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750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52AB-4F6F-418F-8FFB-0A70A0A33C7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05F3-1C57-48AA-9496-DFDBBC61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65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52AB-4F6F-418F-8FFB-0A70A0A33C7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05F3-1C57-48AA-9496-DFDBBC61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275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52AB-4F6F-418F-8FFB-0A70A0A33C7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05F3-1C57-48AA-9496-DFDBBC61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21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52AB-4F6F-418F-8FFB-0A70A0A33C7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05F3-1C57-48AA-9496-DFDBBC61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679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52AB-4F6F-418F-8FFB-0A70A0A33C7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05F3-1C57-48AA-9496-DFDBBC61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11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52AB-4F6F-418F-8FFB-0A70A0A33C7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05F3-1C57-48AA-9496-DFDBBC61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525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52AB-4F6F-418F-8FFB-0A70A0A33C7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05F3-1C57-48AA-9496-DFDBBC61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137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6A52AB-4F6F-418F-8FFB-0A70A0A33C7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605F3-1C57-48AA-9496-DFDBBC61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347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5_57B03F6F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mailto:helen.wu@vanderbilt.edu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9_967F4349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7_31A8F5B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mailto:helen.wu@vanderbilt.edu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elen.cumberland.isis.vanderbilt.edu/" TargetMode="External"/><Relationship Id="rId4" Type="http://schemas.openxmlformats.org/officeDocument/2006/relationships/hyperlink" Target="https://redcap.vumc.org/surveys/?s=XEFPCEMRC88947A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DD9DA-459F-8E52-19B5-FADC372E2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7489" y="4132119"/>
            <a:ext cx="8037022" cy="1272814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4"/>
                </a:solidFill>
              </a:rPr>
              <a:t>+ improve your own code reading skills with an additional study resource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CBA133-2795-CCE3-7DF6-A16F75ADD0D7}"/>
              </a:ext>
            </a:extLst>
          </p:cNvPr>
          <p:cNvSpPr txBox="1"/>
          <p:nvPr/>
        </p:nvSpPr>
        <p:spPr>
          <a:xfrm>
            <a:off x="1752600" y="1317986"/>
            <a:ext cx="8686800" cy="258532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bg1"/>
                </a:solidFill>
              </a:rPr>
              <a:t>Extra Credit Opportunity: +0.5% on your final grade for CS1101</a:t>
            </a:r>
          </a:p>
        </p:txBody>
      </p:sp>
    </p:spTree>
    <p:extLst>
      <p:ext uri="{BB962C8B-B14F-4D97-AF65-F5344CB8AC3E}">
        <p14:creationId xmlns:p14="http://schemas.microsoft.com/office/powerpoint/2010/main" val="147116836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44E59-B606-E70C-E77B-8F17A3422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Helen Wu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DB777-79B9-283B-A5A3-E8DFD53D0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91545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CS 1101 TA (Aug 2024-Present)</a:t>
            </a:r>
          </a:p>
          <a:p>
            <a:pPr>
              <a:lnSpc>
                <a:spcPct val="150000"/>
              </a:lnSpc>
            </a:pPr>
            <a:r>
              <a:rPr lang="en-US" dirty="0"/>
              <a:t>Undergrad Junior &amp; Masters</a:t>
            </a:r>
          </a:p>
          <a:p>
            <a:pPr>
              <a:lnSpc>
                <a:spcPct val="150000"/>
              </a:lnSpc>
            </a:pPr>
            <a:r>
              <a:rPr lang="en-US" dirty="0"/>
              <a:t>Computer Science + Math, Digital Fabrication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hlinkClick r:id="rId2"/>
              </a:rPr>
              <a:t>Email: helen.wu@vanderbilt.edu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C75417-8ED3-9A88-95B5-D12776CDDBD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1" t="32017" r="7542" b="2570"/>
          <a:stretch>
            <a:fillRect/>
          </a:stretch>
        </p:blipFill>
        <p:spPr>
          <a:xfrm>
            <a:off x="6733309" y="1186007"/>
            <a:ext cx="4382077" cy="448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855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E8DB1-E429-2778-BD8A-CB8470BE3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3E070-AE30-E4DC-444C-961509E1F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889" y="1118369"/>
            <a:ext cx="10679545" cy="16304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Questions on Learner’s Code (QLCs)</a:t>
            </a:r>
            <a:r>
              <a:rPr lang="en-US" dirty="0"/>
              <a:t>: reviewing strategy for CS students</a:t>
            </a:r>
          </a:p>
          <a:p>
            <a:pPr lvl="1"/>
            <a:r>
              <a:rPr lang="en-US" sz="2800" dirty="0">
                <a:solidFill>
                  <a:schemeClr val="accent4"/>
                </a:solidFill>
              </a:rPr>
              <a:t>Previous studies: CS students struggle to explain code they wrote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356A173-8397-B361-B1B9-8F400BC1F3A3}"/>
              </a:ext>
            </a:extLst>
          </p:cNvPr>
          <p:cNvSpPr txBox="1">
            <a:spLocks/>
          </p:cNvSpPr>
          <p:nvPr/>
        </p:nvSpPr>
        <p:spPr>
          <a:xfrm>
            <a:off x="1452418" y="5024353"/>
            <a:ext cx="9287163" cy="517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My study: use LLMs to generate QLCs from peer student code 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D401B3FD-576D-B4F0-5318-D65C7E81AA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8766907"/>
              </p:ext>
            </p:extLst>
          </p:nvPr>
        </p:nvGraphicFramePr>
        <p:xfrm>
          <a:off x="517178" y="2904105"/>
          <a:ext cx="11157643" cy="10497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12803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9E466-DCFC-D936-5AE6-B47D62652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C05B-DFD3-80CF-3438-79FDA901F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Q: What are the incentives?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938A7E-AB72-D925-87A8-48DC2CCE0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Extra Credit (+0.5 on your final grade!)</a:t>
            </a:r>
          </a:p>
          <a:p>
            <a:r>
              <a:rPr lang="en-US" b="1" u="sng" dirty="0"/>
              <a:t>Additional study resource for exams</a:t>
            </a:r>
          </a:p>
          <a:p>
            <a:r>
              <a:rPr lang="en-US" dirty="0"/>
              <a:t>Low time commitment</a:t>
            </a:r>
          </a:p>
          <a:p>
            <a:r>
              <a:rPr lang="en-US" dirty="0"/>
              <a:t>Participate in feedback for future app development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92269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BC4B2-9959-06EB-7264-1FAC822E9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Q: Can you participate in the research study?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C4086-9690-6F75-AF36-945877A25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/>
              <a:t>Eligibility: </a:t>
            </a:r>
            <a:r>
              <a:rPr lang="en-US" sz="3200" u="sng" dirty="0"/>
              <a:t>at least 18 years old</a:t>
            </a:r>
            <a:r>
              <a:rPr lang="en-US" sz="3200" dirty="0"/>
              <a:t> and </a:t>
            </a:r>
            <a:r>
              <a:rPr lang="en-US" sz="3200" dirty="0">
                <a:solidFill>
                  <a:schemeClr val="accent4"/>
                </a:solidFill>
              </a:rPr>
              <a:t>in CS 1101 Spring 2026</a:t>
            </a:r>
          </a:p>
        </p:txBody>
      </p:sp>
    </p:spTree>
    <p:extLst>
      <p:ext uri="{BB962C8B-B14F-4D97-AF65-F5344CB8AC3E}">
        <p14:creationId xmlns:p14="http://schemas.microsoft.com/office/powerpoint/2010/main" val="1966574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27872-F87F-1ED9-B7E5-C0CEC92B4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88EF0-7F07-1B62-E88E-30338BB14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Q: Can you get extra credit if you aren’t eligible?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065A30-06C4-8F9D-BD78-1B3C905C3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accent4"/>
                </a:solidFill>
              </a:rPr>
              <a:t>If you are not eligible, you can still complete the tasks for the extra credit; for research purposes, the data will be grouped separately. Reach out to me for more clarification about this.</a:t>
            </a:r>
          </a:p>
        </p:txBody>
      </p:sp>
    </p:spTree>
    <p:extLst>
      <p:ext uri="{BB962C8B-B14F-4D97-AF65-F5344CB8AC3E}">
        <p14:creationId xmlns:p14="http://schemas.microsoft.com/office/powerpoint/2010/main" val="2178194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683D3-F7F3-281F-6CA1-E85067F24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0F3434C-9565-E990-D34A-E119D1A2D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74487"/>
            <a:ext cx="10515600" cy="51849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47957D7-6E87-A3D7-E4A0-17D81E44B7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rcRect l="50000" t="47780" b="43287"/>
          <a:stretch>
            <a:fillRect/>
          </a:stretch>
        </p:blipFill>
        <p:spPr>
          <a:xfrm>
            <a:off x="6095999" y="3943484"/>
            <a:ext cx="5257801" cy="4631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D855BC-AAA4-DF5A-5AFF-E2F615A2B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Q: What do you need to do? (Part 1)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625205-123D-EAE5-CF5E-B31477F5AD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rcRect l="4268" t="26755" r="50790" b="12663"/>
          <a:stretch>
            <a:fillRect/>
          </a:stretch>
        </p:blipFill>
        <p:spPr>
          <a:xfrm>
            <a:off x="1192277" y="2861734"/>
            <a:ext cx="4725924" cy="3141134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89E4E3-1BE0-2719-80FE-0F741F3FA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297" y="4217807"/>
            <a:ext cx="5681904" cy="233141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rmAutofit fontScale="77500" lnSpcReduction="20000"/>
          </a:bodyPr>
          <a:lstStyle/>
          <a:p>
            <a:r>
              <a:rPr lang="en-US" dirty="0"/>
              <a:t>Access the website application I built and finish </a:t>
            </a:r>
            <a:r>
              <a:rPr lang="en-US" b="1" u="sng" dirty="0"/>
              <a:t>at least 90% </a:t>
            </a:r>
            <a:r>
              <a:rPr lang="en-US" dirty="0"/>
              <a:t>of assigned weekly exercises fully</a:t>
            </a:r>
          </a:p>
          <a:p>
            <a:pPr lvl="1"/>
            <a:r>
              <a:rPr lang="en-US" dirty="0"/>
              <a:t>An exercise will have 5 MCQ about a student submission</a:t>
            </a:r>
          </a:p>
          <a:p>
            <a:pPr lvl="1"/>
            <a:r>
              <a:rPr lang="en-US" dirty="0"/>
              <a:t>Each PA has an exercise; exercises due before next PA deadline (will send reminder)</a:t>
            </a:r>
          </a:p>
          <a:p>
            <a:pPr lvl="1"/>
            <a:r>
              <a:rPr lang="en-US" dirty="0"/>
              <a:t>After each question is answered, give quick ratings on question quality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A4BF5B-4DA3-3F54-D59A-A0D334004D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rcRect l="50000" t="11872" b="79195"/>
          <a:stretch>
            <a:fillRect/>
          </a:stretch>
        </p:blipFill>
        <p:spPr>
          <a:xfrm>
            <a:off x="6096000" y="2090057"/>
            <a:ext cx="5257800" cy="46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986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BC29F-B274-E17A-3A36-C4E880C28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07895-0016-FCAA-C633-EE38B8A0E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Q: What </a:t>
            </a:r>
            <a:r>
              <a:rPr lang="en-US" sz="4000" b="1"/>
              <a:t>do yo</a:t>
            </a:r>
            <a:r>
              <a:rPr lang="en-US" sz="4000" b="1" dirty="0"/>
              <a:t>u</a:t>
            </a:r>
            <a:r>
              <a:rPr lang="en-US" sz="4000" b="1"/>
              <a:t> </a:t>
            </a:r>
            <a:r>
              <a:rPr lang="en-US" sz="4000" b="1" dirty="0"/>
              <a:t>need to do? (Part 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8C3DCC-0161-32F7-C327-4BAA86AA3D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99" r="11719"/>
          <a:stretch>
            <a:fillRect/>
          </a:stretch>
        </p:blipFill>
        <p:spPr>
          <a:xfrm>
            <a:off x="2311400" y="1415697"/>
            <a:ext cx="7569200" cy="5160537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47D43C-E2B5-B66C-EA0B-256A99FC6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6800" y="4211083"/>
            <a:ext cx="4512733" cy="246244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rmAutofit fontScale="85000" lnSpcReduction="20000"/>
          </a:bodyPr>
          <a:lstStyle/>
          <a:p>
            <a:r>
              <a:rPr lang="en-US" dirty="0"/>
              <a:t>Provide general feedback on the QLC experience</a:t>
            </a:r>
          </a:p>
          <a:p>
            <a:pPr lvl="1"/>
            <a:r>
              <a:rPr lang="en-US" dirty="0"/>
              <a:t>Strongly Agree – Strongly Disagree</a:t>
            </a:r>
          </a:p>
          <a:p>
            <a:pPr lvl="1"/>
            <a:r>
              <a:rPr lang="en-US" dirty="0"/>
              <a:t>Will be assigned every other week (ex. PA06 has feedback form, PA07 does not, PA08 has feedback form…)</a:t>
            </a:r>
          </a:p>
          <a:p>
            <a:pPr lvl="1"/>
            <a:r>
              <a:rPr lang="en-US" dirty="0"/>
              <a:t>Due when its corresponding PAs are due</a:t>
            </a:r>
          </a:p>
        </p:txBody>
      </p:sp>
    </p:spTree>
    <p:extLst>
      <p:ext uri="{BB962C8B-B14F-4D97-AF65-F5344CB8AC3E}">
        <p14:creationId xmlns:p14="http://schemas.microsoft.com/office/powerpoint/2010/main" val="3563412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474CD-0016-FBA0-901D-37E3B5982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8DEC9-14AB-209D-CCB1-79DABC29B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Summary of Requirements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ECEA7B0-D4CC-5023-2CDF-6C48FC7B6B95}"/>
              </a:ext>
            </a:extLst>
          </p:cNvPr>
          <p:cNvSpPr txBox="1">
            <a:spLocks/>
          </p:cNvSpPr>
          <p:nvPr/>
        </p:nvSpPr>
        <p:spPr>
          <a:xfrm>
            <a:off x="838200" y="3855026"/>
            <a:ext cx="10515600" cy="1176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985795-D75C-D658-7366-2490B86A811B}"/>
              </a:ext>
            </a:extLst>
          </p:cNvPr>
          <p:cNvSpPr txBox="1">
            <a:spLocks/>
          </p:cNvSpPr>
          <p:nvPr/>
        </p:nvSpPr>
        <p:spPr>
          <a:xfrm>
            <a:off x="838200" y="3929711"/>
            <a:ext cx="10515600" cy="1176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A37CC0D-2AD6-924E-6988-29F796E3D9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3391658"/>
              </p:ext>
            </p:extLst>
          </p:nvPr>
        </p:nvGraphicFramePr>
        <p:xfrm>
          <a:off x="838200" y="1825625"/>
          <a:ext cx="10515600" cy="32918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638445">
                  <a:extLst>
                    <a:ext uri="{9D8B030D-6E8A-4147-A177-3AD203B41FA5}">
                      <a16:colId xmlns:a16="http://schemas.microsoft.com/office/drawing/2014/main" val="1545916064"/>
                    </a:ext>
                  </a:extLst>
                </a:gridCol>
                <a:gridCol w="5284844">
                  <a:extLst>
                    <a:ext uri="{9D8B030D-6E8A-4147-A177-3AD203B41FA5}">
                      <a16:colId xmlns:a16="http://schemas.microsoft.com/office/drawing/2014/main" val="2835748365"/>
                    </a:ext>
                  </a:extLst>
                </a:gridCol>
                <a:gridCol w="2592311">
                  <a:extLst>
                    <a:ext uri="{9D8B030D-6E8A-4147-A177-3AD203B41FA5}">
                      <a16:colId xmlns:a16="http://schemas.microsoft.com/office/drawing/2014/main" val="1230921918"/>
                    </a:ext>
                  </a:extLst>
                </a:gridCol>
              </a:tblGrid>
              <a:tr h="392605">
                <a:tc>
                  <a:txBody>
                    <a:bodyPr/>
                    <a:lstStyle/>
                    <a:p>
                      <a:r>
                        <a:rPr lang="en-US" sz="2400" dirty="0"/>
                        <a:t>Required Tasks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Extra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901080"/>
                  </a:ext>
                </a:extLst>
              </a:tr>
              <a:tr h="392605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4"/>
                          </a:solidFill>
                        </a:rPr>
                        <a:t>Submit your PAs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4"/>
                          </a:solidFill>
                        </a:rPr>
                        <a:t>You do that already!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4"/>
                          </a:solidFill>
                        </a:rPr>
                        <a:t>+0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2728315"/>
                  </a:ext>
                </a:extLst>
              </a:tr>
              <a:tr h="875895">
                <a:tc>
                  <a:txBody>
                    <a:bodyPr/>
                    <a:lstStyle/>
                    <a:p>
                      <a:r>
                        <a:rPr lang="en-US" sz="2400" dirty="0"/>
                        <a:t>Finish </a:t>
                      </a:r>
                      <a:r>
                        <a:rPr lang="en-US" sz="2400" b="1" u="sng" dirty="0"/>
                        <a:t>at least 90% </a:t>
                      </a:r>
                      <a:r>
                        <a:rPr lang="en-US" sz="2400" dirty="0"/>
                        <a:t>of assigned weekly exercises fully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Due before next PA deadline</a:t>
                      </a:r>
                    </a:p>
                    <a:p>
                      <a:r>
                        <a:rPr lang="en-US" sz="2400" dirty="0"/>
                        <a:t>MCQ about a student submission</a:t>
                      </a:r>
                    </a:p>
                    <a:p>
                      <a:r>
                        <a:rPr lang="en-US" sz="2400" dirty="0"/>
                        <a:t>Give quick ratings on question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+5-20 minutes per week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727666"/>
                  </a:ext>
                </a:extLst>
              </a:tr>
              <a:tr h="395794">
                <a:tc>
                  <a:txBody>
                    <a:bodyPr/>
                    <a:lstStyle/>
                    <a:p>
                      <a:r>
                        <a:rPr lang="en-US" sz="2400" dirty="0"/>
                        <a:t>Provide feedback on overall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Feedback form assigned occasionally</a:t>
                      </a:r>
                    </a:p>
                    <a:p>
                      <a:r>
                        <a:rPr lang="en-US" sz="2400" dirty="0"/>
                        <a:t>Due at the same time as corresponding exercises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+1 minute per week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006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9AE9DE7-E32A-A8AA-4FA2-DB3982808529}"/>
              </a:ext>
            </a:extLst>
          </p:cNvPr>
          <p:cNvSpPr txBox="1"/>
          <p:nvPr/>
        </p:nvSpPr>
        <p:spPr>
          <a:xfrm>
            <a:off x="1213427" y="5495636"/>
            <a:ext cx="97651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Note: you must do all these tasks in full to receive extra credit. We will </a:t>
            </a:r>
            <a:r>
              <a:rPr lang="en-US" sz="2400" u="sng" dirty="0"/>
              <a:t>not</a:t>
            </a:r>
            <a:r>
              <a:rPr lang="en-US" sz="2400" dirty="0"/>
              <a:t> provide partial credit.</a:t>
            </a:r>
          </a:p>
        </p:txBody>
      </p:sp>
    </p:spTree>
    <p:extLst>
      <p:ext uri="{BB962C8B-B14F-4D97-AF65-F5344CB8AC3E}">
        <p14:creationId xmlns:p14="http://schemas.microsoft.com/office/powerpoint/2010/main" val="83315652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DE3E8-5DF2-48A3-D4B7-C5B915181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65BD0-CC31-6561-F1E6-836D93764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657" y="3922798"/>
            <a:ext cx="7529889" cy="1325563"/>
          </a:xfrm>
        </p:spPr>
        <p:txBody>
          <a:bodyPr/>
          <a:lstStyle/>
          <a:p>
            <a:r>
              <a:rPr lang="en-US" dirty="0"/>
              <a:t>Questions?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B963D-1339-11B4-A34D-13EBD41CD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656" y="4883868"/>
            <a:ext cx="11136447" cy="1325564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sz="3200" b="1" dirty="0"/>
              <a:t>Email: </a:t>
            </a:r>
            <a:r>
              <a:rPr lang="en-US" sz="3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helen.wu@vanderbilt.edu</a:t>
            </a:r>
            <a:endParaRPr lang="en-US" sz="32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3200" b="1" dirty="0"/>
              <a:t>OH: </a:t>
            </a:r>
            <a:r>
              <a:rPr lang="en-US" sz="3200" dirty="0"/>
              <a:t>10:00 am – 12:00 pm, Friday and Saturdays in FGH 314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6DE324-A987-2A5B-EE3E-F40146305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7537" y="2500106"/>
            <a:ext cx="2925804" cy="29258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207F9E-DE43-EC8F-955B-0D857FE71F72}"/>
              </a:ext>
            </a:extLst>
          </p:cNvPr>
          <p:cNvSpPr txBox="1"/>
          <p:nvPr/>
        </p:nvSpPr>
        <p:spPr>
          <a:xfrm>
            <a:off x="298659" y="1392488"/>
            <a:ext cx="11594683" cy="2232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3200" b="1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https://redcap.vumc.org/surveys/?s=XEFPCEMRC88947AR</a:t>
            </a:r>
            <a:endParaRPr lang="en-US" sz="3200" b="1" dirty="0"/>
          </a:p>
          <a:p>
            <a:pPr marL="514350" indent="-514350">
              <a:lnSpc>
                <a:spcPct val="150000"/>
              </a:lnSpc>
              <a:buFontTx/>
              <a:buAutoNum type="arabicPeriod"/>
            </a:pPr>
            <a:r>
              <a:rPr lang="en-US" sz="3200" b="1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https://helen.cumberland.isis.vanderbilt.edu/</a:t>
            </a:r>
            <a:r>
              <a:rPr lang="en-US" sz="3200" b="1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Both items due before </a:t>
            </a:r>
            <a:r>
              <a:rPr lang="en-US" sz="3200" b="1" u="sng" dirty="0">
                <a:solidFill>
                  <a:schemeClr val="accent1"/>
                </a:solidFill>
              </a:rPr>
              <a:t>March 4th @ 11:59pm!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8179F08-1535-6855-5A4C-C7BD40A7A717}"/>
              </a:ext>
            </a:extLst>
          </p:cNvPr>
          <p:cNvSpPr txBox="1">
            <a:spLocks/>
          </p:cNvSpPr>
          <p:nvPr/>
        </p:nvSpPr>
        <p:spPr>
          <a:xfrm>
            <a:off x="298657" y="502670"/>
            <a:ext cx="7529889" cy="889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 participate:</a:t>
            </a:r>
          </a:p>
        </p:txBody>
      </p:sp>
    </p:spTree>
    <p:extLst>
      <p:ext uri="{BB962C8B-B14F-4D97-AF65-F5344CB8AC3E}">
        <p14:creationId xmlns:p14="http://schemas.microsoft.com/office/powerpoint/2010/main" val="2213722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2165</TotalTime>
  <Words>489</Words>
  <Application>Microsoft Office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2013 - 2022 Theme</vt:lpstr>
      <vt:lpstr>PowerPoint Presentation</vt:lpstr>
      <vt:lpstr>Helen Wu</vt:lpstr>
      <vt:lpstr>PowerPoint Presentation</vt:lpstr>
      <vt:lpstr>Q: What are the incentives?</vt:lpstr>
      <vt:lpstr>Q: Can you participate in the research study?</vt:lpstr>
      <vt:lpstr>Q: Can you get extra credit if you aren’t eligible?</vt:lpstr>
      <vt:lpstr>Q: What do you need to do? (Part 1)</vt:lpstr>
      <vt:lpstr>Q: What do you need to do? (Part 2)</vt:lpstr>
      <vt:lpstr>Summary of Requirements</vt:lpstr>
      <vt:lpstr>Questions?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Wu, Helen</dc:creator>
  <cp:lastModifiedBy>Wu, Helen</cp:lastModifiedBy>
  <cp:revision>28</cp:revision>
  <dcterms:created xsi:type="dcterms:W3CDTF">2026-01-12T16:12:02Z</dcterms:created>
  <dcterms:modified xsi:type="dcterms:W3CDTF">2026-03-01T03:25:49Z</dcterms:modified>
</cp:coreProperties>
</file>